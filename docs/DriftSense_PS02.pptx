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3"/>
    <p:sldId id="258" r:id="rId4"/>
    <p:sldId id="260" r:id="rId6"/>
    <p:sldId id="262" r:id="rId8"/>
    <p:sldId id="263" r:id="rId9"/>
    <p:sldId id="268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0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2.png"/><Relationship Id="rId4" Type="http://schemas.openxmlformats.org/officeDocument/2006/relationships/image" Target="../media/image1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.png"/><Relationship Id="rId10" Type="http://schemas.openxmlformats.org/officeDocument/2006/relationships/image" Target="../media/image6.png"/><Relationship Id="rId4" Type="http://schemas.openxmlformats.org/officeDocument/2006/relationships/image" Target="../media/image13.jpe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image" Target="../media/image12.png"/><Relationship Id="rId4" Type="http://schemas.openxmlformats.org/officeDocument/2006/relationships/image" Target="../media/image13.jpe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image" Target="../media/image12.png"/><Relationship Id="rId4" Type="http://schemas.openxmlformats.org/officeDocument/2006/relationships/image" Target="../media/image13.jpeg"/><Relationship Id="rId9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.png"/><Relationship Id="rId4" Type="http://schemas.openxmlformats.org/officeDocument/2006/relationships/image" Target="../media/image13.jpeg"/><Relationship Id="rId9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team can have up to 4 members including the team leader. Add rows if necessary.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5048402"/>
            <a:ext cx="10649102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1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{TEAM NAME}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{NAME}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{YEAR}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{COLLEGE NAME}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{+91 XXXXX XXXXX}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1886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{email@example.com}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PS-02 — Navigation-error recovery for wafer inspection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500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1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wafer-inspection tool must re-photograph the same microscopic site, but its stage lands roughly a micrometre off target.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is a printed copy of the same design, so the wrong location looks identical to the right one — the images do not distinguish the candidates.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 a reference at 1 nm/px and a search image at 10 nm/px, return the reference centre in search pixels; that offset times pixel size is the stage correction.</a:t>
            </a:r>
            <a:endParaRPr lang="en-US" sz="130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periodic template on a periodic field yields a lattice of near-identical peaks. Recall is easy; choosing the right peak is the problem.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stages, escalating: the cheap path runs first, and the expensive tiers are entered only when the evidence says it was not enough.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134002"/>
            <a:ext cx="10267798" cy="21000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372661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1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Pipeline: pose estimation → template construction → ZNCC matched filter (FFT) → peaks with NMS → disambiguation → sub-pixel refinement → calibrated confidence.</a:t>
            </a:r>
            <a:endParaRPr lang="en-US" sz="13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Uniqueness weighting is the core idea. Periodic regions match everywhere, aperiodic ones match in one place, so each tile is scored by its autocorrelation sidelobe — its ambiguity function — and the filter is weighted toward what can localise. +0.080.</a:t>
            </a:r>
            <a:endParaRPr lang="en-US" sz="13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Fourier–Mellin rotation estimation adds +0.086, the largest single gain, closing a 26-point gap on the most-rotated stratum to under two points.</a:t>
            </a:r>
            <a:endParaRPr lang="en-US" sz="13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Upsampled-DFT phase correlation refines to 0.035 px, an 11x error reduction.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Measured on 324 held-out pairs the system had never seen, generated from a seed registered before development began.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05000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Turns a micrometre-scale navigation error into a sub-nanometre correction: 0.031 px (0.31 nm) median error on data the system has never seen.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answer carries a quality flag, so cases it cannot solve are reported rather than guessed.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050000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4791456"/>
            <a:ext cx="3986784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Held-out set, 324 unseen pairs: 95.1% at 1 px, 96.3% at 2 px, 97.5% at 4 and 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 set: 93.8% at 1 px, against a plain-NCC baseline of 75.3%.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382 ms per pair on one CPU core — no GPU, no trained model.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unsolvable stratum scores 0% by construction, and is flagged rather than guessed.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Commodity-CPU Python, a physics-based synthetic dataset, and reproducibility checks that run from a clean unzip.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50000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 3.12 with NumPy, SciPy, OpenCV and scikit-image. No GPU, no training, no model weights — it runs from a clean unzip on a laptop CPU.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324 stratified pairs through a real SEM chain: edge brightening, PSF blur, Poisson shot noise, read noise and scan artifacts, applied independently per capture.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Byte-reproducible from seed; the held-out set's tree hashes were registered before generation and reproduced exactly on Windows and macOS.</a:t>
            </a:r>
            <a:endParaRPr lang="en-US" sz="13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578 tests, CI on every push, and a clean-room check that unpacks the archive and runs it with no developer environment present.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Architecture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Components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52314"/>
            <a:ext cx="3295498" cy="933602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 Tools</a:t>
            </a:r>
            <a:endParaRPr lang="en-US" sz="10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https://github.com/Yashaszz/drift-sense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{PASTE VIDEO LINK - NOT YET RECORDED}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and 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theory the method rests on, and the limits we state rather than hide.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13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45282"/>
            <a:ext cx="5544007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Disambiguation is posed as matched filtering: a tile's autocorrelation is its ambiguity function, so sidelobe height measures positional ambiguity directly.</a:t>
            </a:r>
            <a:endParaRPr lang="en-US" sz="12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Layout dimensions are deliberately relaxed 1.5–5x from production silicon. At real ground rules the lattice reaches the 10 nm/px optic at 45% contrast, and at leading-edge fin pitch at 20% — at or below the shot-noise floor.</a:t>
            </a:r>
            <a:endParaRPr lang="en-US" sz="1200" dirty="0"/>
          </a:p>
          <a:p>
            <a:pPr marL="0" indent="0" algn="l">
              <a:buNone/>
            </a:pPr>
            <a:r>
              <a:rPr lang="en-US" sz="9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Nyquist is not the binding constraint; contrast is. Every parameter is tagged as cited, partly cited, or a declared assumption.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61949" y="4155034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4279392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4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4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4764938"/>
            <a:ext cx="9601200" cy="1410005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8"/>
          <p:cNvSpPr/>
          <p:nvPr/>
        </p:nvSpPr>
        <p:spPr>
          <a:xfrm>
            <a:off x="1790395" y="5232197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4926787"/>
            <a:ext cx="3219602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 (1995). Fast Normalized Cross-Correlation. Vision Interface.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1790395" y="5661050"/>
            <a:ext cx="9277502" cy="9144"/>
          </a:xfrm>
          <a:prstGeom prst="rect">
            <a:avLst/>
          </a:prstGeom>
          <a:solidFill>
            <a:srgbClr val="1E40AF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 txBox="1"/>
          <p:nvPr/>
        </p:nvSpPr>
        <p:spPr>
          <a:xfrm>
            <a:off x="1790395" y="5355641"/>
            <a:ext cx="3258007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Reddy &amp; Chatterji (1996). FFT-based translation, rotation and scale-invariant registration. IEEE Trans. Image Processing 5(8).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790395" y="5783580"/>
            <a:ext cx="3258007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Guizar-Sicairos, Thurman &amp; Fienup (2008). Efficient subpixel image registration. Optics Letters 33(2).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735</Words>
  <Application>Microsoft Office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Poppins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Inter Institutional Inclusive  Innovations Center</cp:lastModifiedBy>
  <cp:revision>2</cp:revision>
  <dcterms:created xsi:type="dcterms:W3CDTF">2026-01-15T05:38:47Z</dcterms:created>
  <dcterms:modified xsi:type="dcterms:W3CDTF">2026-07-24T04:52:04Z</dcterms:modified>
</cp:coreProperties>
</file>